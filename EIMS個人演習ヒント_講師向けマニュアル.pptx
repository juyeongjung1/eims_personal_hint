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83b113021241cd" /><Relationship Type="http://schemas.openxmlformats.org/officeDocument/2006/relationships/extended-properties" Target="/docProps/app.xml" Id="Rfedf3a5be06c4948" /><Relationship Type="http://schemas.openxmlformats.org/officeDocument/2006/relationships/officeDocument" Target="/ppt/presentation.xml" Id="R03c4bb5ed6ad41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a8bdefe2d048dc"/>
  </p:sldMasterIdLst>
  <p:notesMasterIdLst>
    <p:notesMasterId xmlns:r="http://schemas.openxmlformats.org/officeDocument/2006/relationships" r:id="Rbfbbac54c2434179"/>
  </p:notesMasterIdLst>
  <p:sldIdLst>
    <p:sldId xmlns:r="http://schemas.openxmlformats.org/officeDocument/2006/relationships" id="256" r:id="R95cef4178b2e4e99"/>
    <p:sldId xmlns:r="http://schemas.openxmlformats.org/officeDocument/2006/relationships" id="257" r:id="Rc4adf9030d5744d3"/>
    <p:sldId xmlns:r="http://schemas.openxmlformats.org/officeDocument/2006/relationships" id="258" r:id="R01d28bbb01d54512"/>
    <p:sldId xmlns:r="http://schemas.openxmlformats.org/officeDocument/2006/relationships" id="259" r:id="Red07ed82108542ca"/>
    <p:sldId xmlns:r="http://schemas.openxmlformats.org/officeDocument/2006/relationships" id="260" r:id="Rcfe0d449d36a46e2"/>
    <p:sldId xmlns:r="http://schemas.openxmlformats.org/officeDocument/2006/relationships" id="261" r:id="R00b89bd950ff4a49"/>
    <p:sldId xmlns:r="http://schemas.openxmlformats.org/officeDocument/2006/relationships" id="262" r:id="Re6d08204bc8e40a8"/>
    <p:sldId xmlns:r="http://schemas.openxmlformats.org/officeDocument/2006/relationships" id="263" r:id="Rc6ede1da596b47d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a8bdefe2d048dc" /><Relationship Type="http://schemas.openxmlformats.org/officeDocument/2006/relationships/theme" Target="/ppt/theme/theme1.xml" Id="R7fa9392338484401" /><Relationship Type="http://schemas.openxmlformats.org/officeDocument/2006/relationships/notesMaster" Target="/ppt/notesMasters/notesMaster1.xml" Id="Rbfbbac54c2434179" /><Relationship Type="http://schemas.openxmlformats.org/officeDocument/2006/relationships/presProps" Target="/ppt/presProps.xml" Id="Rda23465f7f344a9f" /><Relationship Type="http://schemas.openxmlformats.org/officeDocument/2006/relationships/viewProps" Target="/ppt/viewProps.xml" Id="R40d288a7729b4664" /><Relationship Type="http://schemas.openxmlformats.org/officeDocument/2006/relationships/tableStyles" Target="/ppt/tableStyles.xml" Id="Rb6e479503d6a4fed" /><Relationship Type="http://schemas.openxmlformats.org/officeDocument/2006/relationships/slide" Target="/ppt/slides/slide1.xml" Id="R95cef4178b2e4e99" /><Relationship Type="http://schemas.openxmlformats.org/officeDocument/2006/relationships/slide" Target="/ppt/slides/slide2.xml" Id="Rc4adf9030d5744d3" /><Relationship Type="http://schemas.openxmlformats.org/officeDocument/2006/relationships/slide" Target="/ppt/slides/slide3.xml" Id="R01d28bbb01d54512" /><Relationship Type="http://schemas.openxmlformats.org/officeDocument/2006/relationships/slide" Target="/ppt/slides/slide4.xml" Id="Red07ed82108542ca" /><Relationship Type="http://schemas.openxmlformats.org/officeDocument/2006/relationships/slide" Target="/ppt/slides/slide5.xml" Id="Rcfe0d449d36a46e2" /><Relationship Type="http://schemas.openxmlformats.org/officeDocument/2006/relationships/slide" Target="/ppt/slides/slide6.xml" Id="R00b89bd950ff4a49" /><Relationship Type="http://schemas.openxmlformats.org/officeDocument/2006/relationships/slide" Target="/ppt/slides/slide7.xml" Id="Re6d08204bc8e40a8" /><Relationship Type="http://schemas.openxmlformats.org/officeDocument/2006/relationships/slide" Target="/ppt/slides/slide8.xml" Id="Rc6ede1da596b47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6543a9fec794b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9440d1f866432d" /><Relationship Type="http://schemas.openxmlformats.org/officeDocument/2006/relationships/notesMaster" Target="/ppt/notesMasters/notesMaster1.xml" Id="R9d1091a2ad694c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7e0abf8e8a4c06" /><Relationship Type="http://schemas.openxmlformats.org/officeDocument/2006/relationships/notesMaster" Target="/ppt/notesMasters/notesMaster1.xml" Id="R3b435a2da01b40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7b41e385564979" /><Relationship Type="http://schemas.openxmlformats.org/officeDocument/2006/relationships/notesMaster" Target="/ppt/notesMasters/notesMaster1.xml" Id="R0e3d9ca52fca4e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63a71418244882" /><Relationship Type="http://schemas.openxmlformats.org/officeDocument/2006/relationships/notesMaster" Target="/ppt/notesMasters/notesMaster1.xml" Id="R55a010ba7f114b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1a81506699496a" /><Relationship Type="http://schemas.openxmlformats.org/officeDocument/2006/relationships/notesMaster" Target="/ppt/notesMasters/notesMaster1.xml" Id="R78edbbbde2db48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b03809c05a454e" /><Relationship Type="http://schemas.openxmlformats.org/officeDocument/2006/relationships/notesMaster" Target="/ppt/notesMasters/notesMaster1.xml" Id="Rf43f5930c40f49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112589f088462e" /><Relationship Type="http://schemas.openxmlformats.org/officeDocument/2006/relationships/notesMaster" Target="/ppt/notesMasters/notesMaster1.xml" Id="R9bb17f65aa7048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c5ff1f6dd14fef" /><Relationship Type="http://schemas.openxmlformats.org/officeDocument/2006/relationships/notesMaster" Target="/ppt/notesMasters/notesMaster1.xml" Id="R02015b3b036345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0caa0e7ef0475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47b8c20a3604690" /><Relationship Type="http://schemas.openxmlformats.org/officeDocument/2006/relationships/slideLayout" Target="/ppt/slideLayouts/slideLayout2.xml" Id="R292ec5dab38b44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2ec5dab38b44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8f6b711fbb4414" /><Relationship Type="http://schemas.openxmlformats.org/officeDocument/2006/relationships/notesSlide" Target="/ppt/notesSlides/notesSlide1.xml" Id="R1f4d1b706ec84f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019b6783d3400b" /><Relationship Type="http://schemas.openxmlformats.org/officeDocument/2006/relationships/notesSlide" Target="/ppt/notesSlides/notesSlide2.xml" Id="R4a026faeaf5c47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8887fcb3544c6d" /><Relationship Type="http://schemas.openxmlformats.org/officeDocument/2006/relationships/notesSlide" Target="/ppt/notesSlides/notesSlide3.xml" Id="R44203199f3334d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1f0fe73dcf4167" /><Relationship Type="http://schemas.openxmlformats.org/officeDocument/2006/relationships/notesSlide" Target="/ppt/notesSlides/notesSlide4.xml" Id="Rbbacbcc2199940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5ac978629146ca" /><Relationship Type="http://schemas.openxmlformats.org/officeDocument/2006/relationships/notesSlide" Target="/ppt/notesSlides/notesSlide5.xml" Id="Ra82f542a4ecc49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90dc1011a54a0f" /><Relationship Type="http://schemas.openxmlformats.org/officeDocument/2006/relationships/notesSlide" Target="/ppt/notesSlides/notesSlide6.xml" Id="Rfb07178cbab04d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71acff07134cf2" /><Relationship Type="http://schemas.openxmlformats.org/officeDocument/2006/relationships/notesSlide" Target="/ppt/notesSlides/notesSlide7.xml" Id="Rc402e9df8fc544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f0e3f9fe27478f" /><Relationship Type="http://schemas.openxmlformats.org/officeDocument/2006/relationships/notesSlide" Target="/ppt/notesSlides/notesSlide8.xml" Id="Rae3f7ba4e97a4d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0A33C1-BA9B-4506-8275-5787C748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F1810-3464-4CFC-9E40-4956B5BE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ACEE8-8B8E-4F28-99CD-D843A6B4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FE2C8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9FE2C8"/>
                </a:solidFill>
                <a:latin typeface="Meiryo"/>
                <a:ea typeface="Meiryo"/>
                <a:cs typeface="Meiryo"/>
              </a:rPr>
              <a:t>EIMS 個人演習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7FA5E-A665-4C59-B9AE-EAAA0476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7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ヒントHTML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37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講師向けマニュアル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10A93-731A-4BDF-A420-F4CD58B3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3DE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D7E3DE"/>
                </a:solidFill>
                <a:latin typeface="Meiryo"/>
                <a:ea typeface="Meiryo"/>
                <a:cs typeface="Meiryo"/>
              </a:rPr>
              <a:t>公開時間制御・講師用モード・検索ハイライト・当日運用の確認ポイント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19A81-4F7F-44C8-9EC1-51ABCB59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38250"/>
            <a:ext cx="33813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34FF6-4BD9-4BD0-9EF6-A78212DD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38250"/>
            <a:ext cx="3381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9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25796-D0AB-4A70-A992-C47554FB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71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AD0CC-C8A7-4C38-B107-87CE0C3D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71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44D18-E775-4C6B-BA5C-9E9EFF68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3716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DC4"/>
          </a:solidFill>
          <a:ln xmlns:a="http://schemas.openxmlformats.org/drawingml/2006/main" w="0">
            <a:solidFill>
              <a:srgbClr val="4ECD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0F532-25DC-4774-A372-DF905770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314450"/>
            <a:ext cx="2428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EIMS 個人演習のヒント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2DC0D-46A7-41A5-B392-7D55E7EA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62125"/>
            <a:ext cx="3000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EAAD3-F39F-4963-8B3E-4A90CCA0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91452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EIMS 個人演習のヒント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AB9C4-91A6-48FF-BC73-2AAB08B9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7642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95EF9-64F8-4797-B23D-E2D98E8F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95262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演習番号・用語・コードを検索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A00015-9BC0-4767-B9A3-1984713A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952625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15件表示中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4538A-A63A-4BFF-8B3B-67503E4A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76425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B819C-AF37-4583-949D-D9D36F18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276475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すべて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FF6303-685A-435C-9B2F-2609CBED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276475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EEE49-3F9D-4DEF-8E7D-DEEA33F8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76475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128CB1-69AD-44DD-89FF-9E97DC14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76475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A8878E-FCBD-4E30-AD11-A3DF5C6F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2276475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7F994-615B-4EBB-82B0-B378AAAC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2276475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8FF923-7348-410C-9D47-AD800E17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14625"/>
            <a:ext cx="2809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F1412E-F138-4244-9038-ABD800C4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84797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演習1.1 のヒント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60CAB5-53E2-43BC-8B5A-2A5471CB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4797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E"/>
          </a:solidFill>
          <a:ln xmlns:a="http://schemas.openxmlformats.org/drawingml/2006/main" w="9525">
            <a:solidFill>
              <a:srgbClr val="B9D8CB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公開中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9B35BB-FF21-48F6-A4F3-797163CE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09925"/>
            <a:ext cx="24669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参照テキスト・コード・重要ポイントを整理。穴埋めは黄色、検索ヒットは水色で表示。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3BA0C3-845D-4C37-9FC1-6EA8804A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2026/6/9・6/10 実施予定</a:t>
            </a:r>
          </a:p>
        </p:txBody>
      </p:sp>
    </p:spTree>
    <p:extLst>
      <p:ext uri="{BB962C8B-B14F-4D97-AF65-F5344CB8AC3E}">
        <p14:creationId xmlns:p14="http://schemas.microsoft.com/office/powerpoint/2010/main" val="8339556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C044BF-9943-42BE-8DB4-AD50150D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FEA5B-FB57-4323-904E-DEDE3F24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全体像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3E945-1C52-4283-BB2C-72EDA503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受講者にはローカルHTMLを配布し、演習ごとの時刻でヒントを公開します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5EE3C-589D-4F12-9AAB-E183B505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381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010218-BAD6-401E-9F54-46FAA2B1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solidFill>
              <a:srgbClr val="D9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1729A-87A7-49DB-998B-F4279EE8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受講者側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E1B2F-F409-49E3-AF2B-E1ADA61E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0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8C547-6077-4132-894A-BF68D4F3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インターネット不要。HTMLファイルをブラウザで開く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599C9-B3FE-4FCE-B74E-59E0129A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6B6D1-2BAA-41E1-8881-D2C69463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860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PCの現在日時を見て、公開前の演習は本文を隠す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F82AB-CD00-4279-BDE5-D2AA7EF2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43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9C073-4277-44FE-B414-453BFA4E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検索バー・演習タブ・コードコピーが利用可能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C756D-0EA1-4773-93A6-8169FED4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講師側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F17C2-DD6B-4EE7-AD61-D7EF26E6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0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E"/>
          </a:solidFill>
          <a:ln xmlns:a="http://schemas.openxmlformats.org/drawingml/2006/main" w="0">
            <a:solidFill>
              <a:srgbClr val="2F5F9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6F23D-9A7B-4A5B-8D37-26357C47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右上の「講師用」からログイン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EADB82-104E-46F3-BFD4-B0F40D70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71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E"/>
          </a:solidFill>
          <a:ln xmlns:a="http://schemas.openxmlformats.org/drawingml/2006/main" w="0">
            <a:solidFill>
              <a:srgbClr val="2F5F9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6E787-2090-46EB-BC25-396EEC1B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公開前でも全ヒントを確認可能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87000-7F0F-4300-B022-6CB9C151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43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E"/>
          </a:solidFill>
          <a:ln xmlns:a="http://schemas.openxmlformats.org/drawingml/2006/main" w="0">
            <a:solidFill>
              <a:srgbClr val="2F5F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2D831-7CF5-4754-A09E-381B73F0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このPCだけ公開日時を変更して動作確認可能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4CF2B1-C144-49EC-B13C-89020014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744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3BD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05BA28-B290-45F9-9285-80C37C82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1015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46200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946200"/>
                </a:solidFill>
                <a:latin typeface="Meiryo"/>
                <a:ea typeface="Meiryo"/>
                <a:cs typeface="Meiryo"/>
              </a:rPr>
              <a:t>注意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16E28-5F02-4FD2-AD4E-52240F1F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904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ローカルHTMLの時刻制御は厳密なアクセス制御ではありません。通常運用でヒント公開タイミングを整えるための仕組みです。</a:t>
            </a:r>
          </a:p>
        </p:txBody>
      </p:sp>
    </p:spTree>
    <p:extLst>
      <p:ext uri="{BB962C8B-B14F-4D97-AF65-F5344CB8AC3E}">
        <p14:creationId xmlns:p14="http://schemas.microsoft.com/office/powerpoint/2010/main" val="160555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640E39-1C68-4510-9312-A2200F1F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86291-D9F2-46F5-AF3A-98FF72D9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受講者画面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0FF7F-E1DD-483B-8881-50E43018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演習タブ・検索・公開状態が1画面で分かる構成です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BBD76-3120-4A49-BE07-9E3E6878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381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5B851-637B-4276-8DEA-DDCC1BE3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solidFill>
              <a:srgbClr val="D9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AE6A3-5ACA-45A8-AA16-36CB7DE5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2231F-CAE5-4834-B9BB-B79F9033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9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63A62-0DE4-472C-B202-DC5CE905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95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A6B2C-BD51-4E74-BFA1-917C7656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95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3AB45-FE75-432B-B1CF-D590E365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695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DC4"/>
          </a:solidFill>
          <a:ln xmlns:a="http://schemas.openxmlformats.org/drawingml/2006/main" w="0">
            <a:solidFill>
              <a:srgbClr val="4ECD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B4A12-860F-4612-B759-6C265AA3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38300"/>
            <a:ext cx="628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EIMS 個人演習のヒント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BD151-B8CE-4B9B-94A3-6CDF001D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76450"/>
            <a:ext cx="68103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D7C6E-B10F-4230-AB5A-2976E298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228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EIMS 個人演習のヒント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46349-B125-4A06-9633-1662CDE4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907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A11EB8-D45D-444B-A47D-0A811C84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669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演習番号・用語・コードを検索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F1BCF-718D-4FD0-9479-44AB2988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15件表示中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C32660-EDA7-4A63-8065-4037529D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907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23124-F504-4063-87AD-283FFC96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すべて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A37FB-1660-4320-B583-F7558300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A7108-811B-4AAF-9728-AA0D24FB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02FF4-6C46-4FB3-BA6E-68E48CCF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5311D8-64FB-4BB6-ADC5-03FD3611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2C6B00-6DDB-4F8F-9612-39A1367E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A4487E-1026-481F-81B6-F3742703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90875"/>
            <a:ext cx="2971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8A3704-94B0-42BB-AFAD-A2C6F5A1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2422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演習1.1 のヒント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38A6C2-F856-45C7-8AB6-72DA53E5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2422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E"/>
          </a:solidFill>
          <a:ln xmlns:a="http://schemas.openxmlformats.org/drawingml/2006/main" w="9525">
            <a:solidFill>
              <a:srgbClr val="B9D8CB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公開中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24BE27-177F-4823-B9CA-7BCB3AC2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86175"/>
            <a:ext cx="2628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参照テキスト・コード・重要ポイントを整理。穴埋めは黄色、検索ヒットは水色で表示。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233B3E-37C7-4CD1-A381-600F1E75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90875"/>
            <a:ext cx="2971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E3BD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563BBA-1551-4272-8F56-B357619B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2422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演習1.2 のヒント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7EBCAB-1EC9-47EA-ABAD-8130FBE1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324225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3BD66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46200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946200"/>
                </a:solidFill>
                <a:latin typeface="Meiryo"/>
                <a:ea typeface="Meiryo"/>
                <a:cs typeface="Meiryo"/>
              </a:rPr>
              <a:t>6/9 11:00公開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EA2251-09C0-442E-B6DD-6E366153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67125"/>
            <a:ext cx="2628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3BD66"/>
            </a:solidFill>
            <a:prstDash val="solid"/>
          </a:ln>
        </p:spPr>
        <p:txBody>
          <a:bodyPr xmlns:a="http://schemas.openxmlformats.org/drawingml/2006/main" lIns="76200" tIns="76200" rIns="76200" bIns="7620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54700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654700"/>
                </a:solidFill>
                <a:latin typeface="Meiryo"/>
                <a:ea typeface="Meiryo"/>
                <a:cs typeface="Meiryo"/>
              </a:rPr>
              <a:t>このヒントは 6/9 11:00公開です。</a:t>
            </a:r>
          </a:p>
          <a:p xmlns:a="http://schemas.openxmlformats.org/drawingml/2006/main">
            <a:pPr algn="l">
              <a:defRPr sz="900" b="1">
                <a:solidFill>
                  <a:srgbClr val="654700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654700"/>
                </a:solidFill>
                <a:latin typeface="Meiryo"/>
                <a:ea typeface="Meiryo"/>
                <a:cs typeface="Meiryo"/>
              </a:rPr>
              <a:t>公開時刻になると数秒以内に表示されます。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FB67BB-8811-4D31-9DA6-2557AF6B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画面の読み方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977B97-BD57-49C3-AE09-1A7BD329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38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FEA422-16B9-4FFE-B269-0A78A26C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526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タブで演習1〜5を切り替え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C8C492-BB41-4DC6-8667-D29D23E0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9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C64842-D15A-43FC-A018-C385EBE1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公開前は本文を隠し、公開予定だけ表示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0F330C-F7D7-498F-9E2E-621300B6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81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E"/>
          </a:solidFill>
          <a:ln xmlns:a="http://schemas.openxmlformats.org/drawingml/2006/main" w="0">
            <a:solidFill>
              <a:srgbClr val="2F5F9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209A50-F707-4055-A5B4-54BB350F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956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検索すると一致箇所を水色で表示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D94A58-421C-42BF-A8DC-5DFD61AE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52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6200"/>
          </a:solidFill>
          <a:ln xmlns:a="http://schemas.openxmlformats.org/drawingml/2006/main" w="0">
            <a:solidFill>
              <a:srgbClr val="9462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08B2A4-A654-47A1-A30C-BAAADADA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671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穴埋め箇所は黄色で表示</a:t>
            </a:r>
          </a:p>
        </p:txBody>
      </p:sp>
    </p:spTree>
    <p:extLst>
      <p:ext uri="{BB962C8B-B14F-4D97-AF65-F5344CB8AC3E}">
        <p14:creationId xmlns:p14="http://schemas.microsoft.com/office/powerpoint/2010/main" val="9027404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F23D8C-DA01-453D-BAEC-F659E042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14573-559F-44FB-9A1D-754A23CB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公開スケジュール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89255-D7B2-47E4-B7F6-2C3E9A2D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6/9は演習1〜3、6/10は演習4〜5を段階的に公開します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66A72-17D7-426B-ADFC-BB220D00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381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5FD79-D3BF-4334-BB9B-F05C4D55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solidFill>
              <a:srgbClr val="D9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25717-E8E7-443B-8A6D-92718D87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10610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AC7D1-1C3F-4B03-A9FE-0B2526B7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669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12955-022E-4413-969B-6A065790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669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10:20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B5F3D-5DA4-477E-AB0D-36AFBFE4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66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F9371-AFA2-4F73-A964-EDA6D788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0590F-1104-4E24-B06E-ADE320D2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5A3A3-3932-474B-A47A-6C3CEA71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2669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11:00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4BB22-C126-49E4-A340-F9CCB89A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669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演習1.2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4FC87-BD6A-4FCE-A3E9-5478C70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3A8881-B53D-4BD1-B5FD-B1FFA644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B80F30-9F71-4288-9FC5-18DA2DFA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6670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11:30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1C9B2-A105-4D06-8352-230AC91D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670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演習2.1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9E3FED-311A-45BE-AD6A-062A767C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4B0759-A637-4775-B371-B9F28D6C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97DC4D-A1F4-4B92-8896-ABC86C45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670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12:00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170C5-ED31-4AB3-BEA6-3247785F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670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演習2.2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D6F6A9-2E2E-4F19-AF83-1B2A5049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D38311-0864-45AC-835A-F63C439F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671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2544A2-6E40-4ED3-BB74-6E79CCC4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671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13:40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7967DD-8D0B-4851-9D32-A5C25332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671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演習2.3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01275B-3A7C-4E20-ADCA-CBC6E100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7C8BD1-3869-4E45-A54C-3115AA44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671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4D87A3-C6AA-45E3-90F7-3C9C7589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8671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14:20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7FF533-4AFB-4CBC-8397-B572C68E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67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演習3.1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4AA3CB-C702-48D4-AEF7-2EA465FF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5E8DF4-1EAC-4352-A5E3-3E735D32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2C196F-666E-4D6A-99AB-FB88B7F6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672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14:40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1BAB22-5D2A-4A24-BD02-E1352038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67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演習3.2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FD4F61-641B-4C7D-B498-44344E87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6936E6-AAD2-4E96-8272-7501230E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672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6423DA-C01F-44B1-9967-1DA13129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672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15:40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C6A0E2-D48E-4358-B896-64CFA6A7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672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演習3.3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1BB4EF-221C-4B85-908F-E7CA14D7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911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EABA2B-D958-40CC-AF43-82D9BDA4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669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6/10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15C574-E157-45A3-A61B-EDA5C1FB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669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10:40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912AAD-79FD-40F7-94C3-8370BE9A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669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演習4.1〜4.3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F207B5-6BE6-46E0-B478-0FB07523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DFC677-C4DA-48CD-80E4-CE87F3A7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FEAC39-3E59-4F14-A2D5-3F0FB9B1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669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11:30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C095AB-341E-4C20-9AA6-1AD9BD6E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演習5.1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F43083-707C-4CA4-B915-8357D662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908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338FD5-FF00-401B-8887-15E7CDF0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6/10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671071-9875-4406-BD99-F8D91B44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670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11:50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694FF9-AE47-4DCB-9FFD-FFB4C518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670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演習5.2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9ECF14-DA90-4B59-AFFC-11CC034A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D33974-A24F-4C56-ABA8-53E40FEF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6/10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F27C18-8D95-4BCA-9644-E5E57EDC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670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14:10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E861DA9-64F3-4C9B-98EA-F1573B77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670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演習5.3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CB4C45-E52E-41F0-99FF-95E72CBA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9090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0AB926-3039-41CA-97B1-63050300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671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5B676C"/>
                </a:solidFill>
                <a:latin typeface="Meiryo"/>
                <a:ea typeface="Meiryo"/>
                <a:cs typeface="Meiryo"/>
              </a:rPr>
              <a:t>6/10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F24AA8-FD70-464E-8B98-C262A1A2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671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15:30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F0856D-1B50-4B53-BF7B-0F6D4932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671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演習5.4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6770D87-B9DE-4651-9ADB-23BD4EF7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E9"/>
          </a:solidFill>
          <a:ln xmlns:a="http://schemas.openxmlformats.org/drawingml/2006/main" w="0">
            <a:solidFill>
              <a:srgbClr val="E7ECE9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9FF625-5704-44E5-8157-CEB735229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0550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講師が変更した公開日時は、そのPCのブラウザだけに保存されます。配布HTML自体の初期スケジュールは変わりません。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9572536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E9980E-FA8C-4D6A-91F8-2BFBBE79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167B8-3D29-466C-9356-0FDFEAB3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講師用モード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6FA61-3A6D-4AF5-88BA-9272637A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右上のボタンからログインすると、公開前でも全ヒントを確認できます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3DA0D7-7B70-4684-8E5C-871F3B7F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381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641A6-FFC7-4878-853A-2D34E042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solidFill>
              <a:srgbClr val="D9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5AA44-C5DF-4D1F-9B3F-EF66B973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5905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35601-22BD-4A7C-B6CB-02218F48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590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9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3235F-3AE1-4142-99C7-28FB59B3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19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319C9-3532-41CD-8E67-BEF64E80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19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F6384-EB9A-44D6-8E37-4E7223D6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619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DC4"/>
          </a:solidFill>
          <a:ln xmlns:a="http://schemas.openxmlformats.org/drawingml/2006/main" w="0">
            <a:solidFill>
              <a:srgbClr val="4ECD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7C121-0690-4AA6-85F0-E219218C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562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EIMS 個人演習のヒント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4689A-C9D6-44D2-AD8A-AA2C9ECF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42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EEF8B1-2D7C-490D-9EC3-3818F450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526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EIMS 個人演習のヒント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9D104-253E-42D4-AF1C-226744B5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1145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3569C-4745-4DFF-BEBD-285B8261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907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演習番号・用語・コードを検索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77E62-99F9-4803-A444-AB326129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1907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15件表示中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926FF9-0AAB-47F8-BE3A-3C65BB3C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145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25BBD-5084-4840-9123-6109FCBF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すべて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1C26CD-9617-4459-96AB-CEC967BA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5146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E20D0A-5EFE-4901-BE93-D6C76E0B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146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BF09D-2841-490C-916B-84C5EDE6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146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C0C871-D062-4EC1-98AA-3BBB6236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146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5EFB37-05B9-41A2-B72D-C2E25B4A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146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EFCFBD-1B3C-4DEB-81C8-5D7D0A1F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742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5F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05AB26-5C0B-4B76-B109-0D7C751F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24075"/>
            <a:ext cx="628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講師用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31A6E8-6927-4254-A16C-19390587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28900"/>
            <a:ext cx="24765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C9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CE1AB0-8933-4BDA-89D8-BF3C84FB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384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講師用メニュー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E4839F-E671-460D-8636-B2201518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19450"/>
            <a:ext cx="1476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307173-F2EA-498E-87FD-956FA4D0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86125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パスワード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1D0177-59B4-4FDF-AA4D-BF2C2836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19450"/>
            <a:ext cx="552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E"/>
          </a:solidFill>
          <a:ln xmlns:a="http://schemas.openxmlformats.org/drawingml/2006/main" w="9525">
            <a:solidFill>
              <a:srgbClr val="B9D8C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ログイン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630C1D-C339-4B11-961B-07752520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526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ログイン後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B22C84-75CA-4217-9B36-C8562614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90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FD1AC7-391B-4A1A-B19A-CEB863FE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30505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パスワード: welcome2026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73384E-7F10-4EFB-9B8F-D3735165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62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A22905-A2D0-4095-847C-FAB4A934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7655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「全ヒントを強制表示」で公開前も確認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64C981-7557-4020-B54B-B3ADBFAE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9BA00B-3C5E-430F-88AB-34341BCF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4805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パネル外クリックまたはEscで閉じる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C89AEF-569B-4363-9351-84EFF55A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7675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B7D3E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5B9F89-41C1-474B-9448-1818F8EC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67250"/>
            <a:ext cx="3219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講師用ログインは、操作ミス防止のための簡易制御です。厳密なセキュリティ用途ではありません。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7682001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A85811-A584-4186-9F60-FD0E6DFA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52D1B-9F29-4781-9996-56E9F00D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動作確認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01322-1572-402F-8822-33AD99C7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公開時刻をこのPCだけ変更して、受講者表示を事前確認できます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52DA4-579A-4946-A5B0-875D6E0B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381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7ECC3-B038-4567-AA94-35924905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solidFill>
              <a:srgbClr val="D9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4DCB6-1F3F-4A0A-9550-0E276440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確認手順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D7840-60E2-4B9A-8A91-556EAED2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56B81-8D5E-4608-A816-9FA4730A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52650"/>
            <a:ext cx="483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講師用にログインする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A9F198-5065-4388-9097-73077EEA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FC22E-B568-42FB-BB87-A3FF7A1E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43200"/>
            <a:ext cx="483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「全ヒントを強制表示」をOFFにする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46D34B-4C3A-4215-A2AF-8F3C7259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E67EC-B3A0-41EF-AF10-50C8D5F9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483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確認したい演習の日時を現在時刻の数分前／数分後に変更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64FBB0-38C0-4A13-91FC-9D6928FC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375D27-FE1C-4857-A496-9B44BFD3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483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「このPCに保存」を押す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72043-8228-486B-8830-0562B16B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80CE9-423C-40C2-9AD9-40C19F98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4838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数秒以内に公開状態が更新されることを確認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B07DA-E7AE-421F-A37C-F53DAB42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381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C9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BD2477-5FBC-4176-9BA7-F0F84556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431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27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講師用メニュー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96A178-1CBA-4DAF-AC83-5B1FF286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□ 全ヒントを強制表示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3AAE7-A890-4ECE-AB68-FCA1F679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33625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E"/>
          </a:solidFill>
          <a:ln xmlns:a="http://schemas.openxmlformats.org/drawingml/2006/main" w="9525">
            <a:solidFill>
              <a:srgbClr val="B9D8CB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このPCに保存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8EFA7-7D85-4A13-B7F8-173EEBF0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演習1.1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D9E52E-DC9D-481C-906C-57AA7726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146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47625" tIns="47625" rIns="47625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2026-06-09T10:20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1EE1AE-69F4-4CD4-96A6-1FB98DD9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909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97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演習1.2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CC16F9-C6AF-4F74-8949-D4A6BFF8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528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47625" tIns="47625" rIns="47625" bIns="4762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975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2026-06-09T11:00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FE18E-7817-446A-9843-2D9E7B48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71950"/>
            <a:ext cx="3667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E3BD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35560A-54C9-4F1A-9756-0C3D6C64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05300"/>
            <a:ext cx="3219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46200"/>
                </a:solidFill>
                <a:latin typeface="Meiryo"/>
                <a:ea typeface="Meiryo"/>
                <a:cs typeface="Meiryo"/>
              </a:defRPr>
            </a:pPr>
            <a:r>
              <a:rPr sz="1125" b="1">
                <a:solidFill>
                  <a:srgbClr val="946200"/>
                </a:solidFill>
                <a:latin typeface="Meiryo"/>
                <a:ea typeface="Meiryo"/>
                <a:cs typeface="Meiryo"/>
              </a:rPr>
              <a:t>強制表示ONのままだと、時刻に関係なく全部見えます。</a:t>
            </a:r>
          </a:p>
        </p:txBody>
      </p:sp>
    </p:spTree>
    <p:extLst>
      <p:ext uri="{BB962C8B-B14F-4D97-AF65-F5344CB8AC3E}">
        <p14:creationId xmlns:p14="http://schemas.microsoft.com/office/powerpoint/2010/main" val="10551741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5BE849-D921-4CA8-BB35-95A9BB7C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DD1DA-C3A1-4FA1-AF99-22276A01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検索とハイライト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40571-F7AE-4556-B54C-55098663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検索語に一致した箇所は水色、穴埋めは黄色で区別します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FB4FE-0D9B-4D62-97EA-6C725218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381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A8462-7625-4F03-A6E9-2F48B1BF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solidFill>
              <a:srgbClr val="D9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D76D4-30F5-4D30-BAF5-24E5B4FC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8580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3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12F39-B8E3-4E85-A4EC-903A4343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1"/>
          </a:solidFill>
          <a:ln xmlns:a="http://schemas.openxmlformats.org/drawingml/2006/main" w="9525">
            <a:solidFill>
              <a:srgbClr val="C9D3C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F2BFDA-ED44-456E-974D-DF170263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695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7B4B1-2068-4D84-A38F-F20FAC8D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695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DDE95-3160-479E-B5A0-07AE02AF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6954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CDC4"/>
          </a:solidFill>
          <a:ln xmlns:a="http://schemas.openxmlformats.org/drawingml/2006/main" w="0">
            <a:solidFill>
              <a:srgbClr val="4ECD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0F9A1-D4FB-4508-899C-8C3B59F3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3830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900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EIMS 個人演習のヒント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5ECF3A-BC57-40E1-BAB5-C54C44F6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638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EAB0C-D006-4758-8AB1-B76CF6E5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28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90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EIMS 個人演習のヒント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946FE6-579C-4506-A886-1A8B62BA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907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4D2A3-4059-454F-866A-4EF45856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669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演習番号・用語・コードを検索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D160A-40E0-4EA9-A5F4-1F91FA63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2669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8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15件表示中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1B048-04BA-4C87-B1FF-2619562D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647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28575" tIns="28575" rIns="28575" bIns="28575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61B0B-8019-45FC-B015-09BA9B22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すべて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5F9A50-1412-4F86-87C2-CBB70D04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5340F-9DB9-47BE-89D9-7024B6E7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FA3E6A-EA5D-46D2-B835-731917FE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4D0B2C-DC4D-4951-B6C8-1F92B60F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98765F-BEFD-49A6-9EDE-03D96518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90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7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演習5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9E6A64-3249-4D15-B46B-123E455E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0FF"/>
          </a:solidFill>
          <a:ln xmlns:a="http://schemas.openxmlformats.org/drawingml/2006/main" w="9525">
            <a:solidFill>
              <a:srgbClr val="1A8F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2204A-4E05-4F5A-9E9E-295EC6BA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09800"/>
            <a:ext cx="552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63547"/>
                </a:solidFill>
                <a:latin typeface="Meiryo"/>
                <a:ea typeface="Meiryo"/>
                <a:cs typeface="Meiryo"/>
              </a:defRPr>
            </a:pPr>
            <a:r>
              <a:rPr sz="825" b="1">
                <a:solidFill>
                  <a:srgbClr val="063547"/>
                </a:solidFill>
                <a:latin typeface="Meiryo"/>
                <a:ea typeface="Meiryo"/>
                <a:cs typeface="Meiryo"/>
              </a:rPr>
              <a:t>Score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BB1C92-B52A-4021-A66B-C3D1CD1C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60198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A"/>
          </a:solidFill>
          <a:ln xmlns:a="http://schemas.openxmlformats.org/drawingml/2006/main" w="9525">
            <a:solidFill>
              <a:srgbClr val="CCD8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606A82-AD93-4023-A555-55E8A9B9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29000"/>
            <a:ext cx="514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Score score = new Score("____", ____, "test");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474CE1-8563-4336-90EF-97E4BF4C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523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0FF"/>
          </a:solidFill>
          <a:ln xmlns:a="http://schemas.openxmlformats.org/drawingml/2006/main" w="9525">
            <a:solidFill>
              <a:srgbClr val="1A8F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BC5197-ECF6-4AAE-ADE3-EBFBCFE9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457575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3547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063547"/>
                </a:solidFill>
                <a:latin typeface="Meiryo"/>
                <a:ea typeface="Meiryo"/>
                <a:cs typeface="Meiryo"/>
              </a:rPr>
              <a:t>Score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22815B-682A-49CE-B89E-1548F420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38525"/>
            <a:ext cx="447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8A"/>
          </a:solidFill>
          <a:ln xmlns:a="http://schemas.openxmlformats.org/drawingml/2006/main" w="9525">
            <a:solidFill>
              <a:srgbClr val="C88A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9C6C36-6D25-4BE0-88B1-8F211973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57575"/>
            <a:ext cx="3714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1600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241600"/>
                </a:solidFill>
                <a:latin typeface="Meiryo"/>
                <a:ea typeface="Meiryo"/>
                <a:cs typeface="Meiryo"/>
              </a:rPr>
              <a:t>____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FA30E7-3DDA-454B-B3ED-72F4E917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使い分け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8361BB-B236-4858-ABB2-049B33D0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0FF"/>
          </a:solidFill>
          <a:ln xmlns:a="http://schemas.openxmlformats.org/drawingml/2006/main" w="9525">
            <a:solidFill>
              <a:srgbClr val="1A8F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C25CEC-E488-4E50-9930-3B12DF62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検索キーワードに一致した箇所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B04122-2894-4DA5-94C3-E0E7B4BA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304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08A"/>
          </a:solidFill>
          <a:ln xmlns:a="http://schemas.openxmlformats.org/drawingml/2006/main" w="9525">
            <a:solidFill>
              <a:srgbClr val="C88A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C2D7D7-6ACE-4ADA-9E59-BE65E15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670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受講者が埋める穴埋め箇所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86F3CC-CF2D-4983-AD01-BBC36189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200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公開前の演習は、本文を検索対象にしません。受講者が公開前ヒントを検索で見つけることを避けるためです。</a:t>
            </a:r>
          </a:p>
        </p:txBody>
      </p:sp>
    </p:spTree>
    <p:extLst>
      <p:ext uri="{BB962C8B-B14F-4D97-AF65-F5344CB8AC3E}">
        <p14:creationId xmlns:p14="http://schemas.microsoft.com/office/powerpoint/2010/main" val="2785145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54C42C-2248-4D91-8351-EC2C4EC6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ED064-0570-43DF-AFDC-CB4585CB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050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当日チェックリスト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74304-2D57-41E2-9E86-AB4CD533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885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配布前・演習中・終了後に見るポイントです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068DA-8788-468D-B117-58285A34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381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6C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5B676C"/>
                </a:solidFill>
                <a:latin typeface="Meiryo"/>
                <a:ea typeface="Meiryo"/>
                <a:cs typeface="Meiryo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75A97-2162-44D9-8E26-3130E970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C"/>
          </a:solidFill>
          <a:ln xmlns:a="http://schemas.openxmlformats.org/drawingml/2006/main" w="0">
            <a:solidFill>
              <a:srgbClr val="D9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3295BB-3AD5-4B02-956B-33553978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D3DC1-2E6B-4F7B-861F-D71321D2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62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F7A62"/>
                </a:solidFill>
                <a:latin typeface="Meiryo"/>
                <a:ea typeface="Meiryo"/>
                <a:cs typeface="Meiryo"/>
              </a:rPr>
              <a:t>配布前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5BCB8-7690-4A2A-9156-1D4DE1FA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62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4C4C5-0361-42C0-89C3-2DE8DB7F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HTMLをChrome/Edgeで開けるか確認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85498-B253-48B7-BD3A-1BD150A7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28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02DF2-1169-4888-B232-97B5E709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講師用ログインができるか確認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6CDBE-DE34-4646-971F-A51EDEA1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95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2"/>
          </a:solidFill>
          <a:ln xmlns:a="http://schemas.openxmlformats.org/drawingml/2006/main" w="0">
            <a:solidFill>
              <a:srgbClr val="1F7A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E2C5C-B2FD-45C7-91E4-80B3D84E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初期公開時刻が日程表どおりか確認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A8DA1C-61E8-4795-A135-967B2BEE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38300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47679-ACC1-416C-81B6-BFC9611F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050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5F9E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F5F9E"/>
                </a:solidFill>
                <a:latin typeface="Meiryo"/>
                <a:ea typeface="Meiryo"/>
                <a:cs typeface="Meiryo"/>
              </a:rPr>
              <a:t>演習中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F92ED-E77D-4D7D-B1F4-552626CE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62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E"/>
          </a:solidFill>
          <a:ln xmlns:a="http://schemas.openxmlformats.org/drawingml/2006/main" w="0">
            <a:solidFill>
              <a:srgbClr val="2F5F9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5A617-563A-4F0C-AFF9-21DA9ED6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765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強制表示OFFで公開状態を確認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C8CFB-CAE1-48BC-A67C-1C847324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28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E"/>
          </a:solidFill>
          <a:ln xmlns:a="http://schemas.openxmlformats.org/drawingml/2006/main" w="0">
            <a:solidFill>
              <a:srgbClr val="2F5F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E51EF-A26E-4DF5-8E74-CA541AA7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公開時刻後、数秒以内に表示されるか確認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BBEEC-6AD5-46B6-B549-F2B309E9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95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9E"/>
          </a:solidFill>
          <a:ln xmlns:a="http://schemas.openxmlformats.org/drawingml/2006/main" w="0">
            <a:solidFill>
              <a:srgbClr val="2F5F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92815-B7D6-4688-BBCD-D87AB862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検索語が水色で見えるか確認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A7D9BC-5F54-413A-BBC7-5BD18961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38300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211920-985F-4EF1-A4F4-CEDE7116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0500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946200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946200"/>
                </a:solidFill>
                <a:latin typeface="Meiryo"/>
                <a:ea typeface="Meiryo"/>
                <a:cs typeface="Meiryo"/>
              </a:rPr>
              <a:t>終了後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051E3E-8784-4B8F-980E-CCE45F85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62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6200"/>
          </a:solidFill>
          <a:ln xmlns:a="http://schemas.openxmlformats.org/drawingml/2006/main" w="0">
            <a:solidFill>
              <a:srgbClr val="9462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9C61E-E923-4AD8-8EC1-60CAF22D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必要ならPPT/HTMLをGitHubから再取得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3B2A91-CE4D-49EE-ADEC-BF1C0F35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28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6200"/>
          </a:solidFill>
          <a:ln xmlns:a="http://schemas.openxmlformats.org/drawingml/2006/main" w="0">
            <a:solidFill>
              <a:srgbClr val="9462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D37DE9-C736-408A-BD49-1E2FC695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講師用で変更したローカル時刻は初期化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5FFC20-E4FA-4612-8BE5-8CDFDDC5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95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6200"/>
          </a:solidFill>
          <a:ln xmlns:a="http://schemas.openxmlformats.org/drawingml/2006/main" w="0">
            <a:solidFill>
              <a:srgbClr val="9462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78231D-D90B-40D7-9EE8-214F154A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1D2528"/>
                </a:solidFill>
                <a:latin typeface="Meiryo"/>
                <a:ea typeface="Meiryo"/>
                <a:cs typeface="Meiryo"/>
              </a:rPr>
              <a:t>次回日程が変わる場合はスケジュールを更新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2D5F7C-2E00-4A89-ACE0-F3E538F1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10134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E"/>
          </a:solidFill>
          <a:ln xmlns:a="http://schemas.openxmlformats.org/drawingml/2006/main" w="9525">
            <a:solidFill>
              <a:srgbClr val="B9D8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48D365-F63F-40C0-A34D-BD81F2BC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81650"/>
            <a:ext cx="962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528"/>
                </a:solidFill>
                <a:latin typeface="Meiryo"/>
                <a:ea typeface="Meiryo"/>
                <a:cs typeface="Meiryo"/>
              </a:defRPr>
            </a:pPr>
            <a:r>
              <a:rPr sz="1350" b="1">
                <a:solidFill>
                  <a:srgbClr val="1D2528"/>
                </a:solidFill>
                <a:latin typeface="Meiryo"/>
                <a:ea typeface="Meiryo"/>
                <a:cs typeface="Meiryo"/>
              </a:rPr>
              <a:t>一番大事な運用ルール: 受講者配布用HTMLはそのまま配布し、講師の時刻変更は講師PCでの確認用途として使います。</a:t>
            </a:r>
          </a:p>
        </p:txBody>
      </p:sp>
    </p:spTree>
    <p:extLst>
      <p:ext uri="{BB962C8B-B14F-4D97-AF65-F5344CB8AC3E}">
        <p14:creationId xmlns:p14="http://schemas.microsoft.com/office/powerpoint/2010/main" val="790245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2026-05-25T12:52:03.1940000Z</dcterms:created>
  <dcterms:modified xsi:type="dcterms:W3CDTF">2026-05-25T12:52:03.1950000Z</dcterms:modified>
</coreProperties>
</file>